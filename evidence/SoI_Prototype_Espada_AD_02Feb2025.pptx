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56" r:id="rId5"/>
    <p:sldId id="258" r:id="rId6"/>
    <p:sldId id="277" r:id="rId7"/>
    <p:sldId id="259" r:id="rId8"/>
    <p:sldId id="260" r:id="rId9"/>
    <p:sldId id="262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5364B8D-6CEA-4766-93C3-982E9EF6523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ACBDF26-E2AC-48A5-B658-A32D89D7F6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9B954A-8C8B-4D2F-9684-B443319BC7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49C697-713F-4911-B627-C3F10EB818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F14EDC-84B4-4913-8932-CFB6F0EAC5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6057B-1A2E-4245-B4E3-C089982A0DA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CFC50C-21DB-4D5D-9E15-EA11319D19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3241AC-DCBF-41EB-898E-D7499FC1F1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7E885F-647E-4B97-A9CA-EAFF878463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73889C-0F1C-498E-AE4C-87DF0C28911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2CDAC6-A568-4D2C-88D1-A681863B4AD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F0AF5F-9021-4976-B033-5BD0D025A7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475871-CA94-4BF2-BAA1-2F0D121F31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414C1A-D5AD-44ED-BB27-2DED58928B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B026A5-AE90-4577-BDD2-D8D928CDA7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7124BF-057B-4CAB-BC2A-B82335BA5E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7C20C-E778-1559-1CD3-DAA43F461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56350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F5C2A-E4A9-4E29-81FE-3292F88C3A9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810.04805" TargetMode="External"/><Relationship Id="rId7" Type="http://schemas.openxmlformats.org/officeDocument/2006/relationships/hyperlink" Target="https://news.google.com/rss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ProsusAI/finbert" TargetMode="External"/><Relationship Id="rId5" Type="http://schemas.openxmlformats.org/officeDocument/2006/relationships/hyperlink" Target="https://kafka.apache.org/documentation/" TargetMode="External"/><Relationship Id="rId4" Type="http://schemas.openxmlformats.org/officeDocument/2006/relationships/hyperlink" Target="https://arxiv.org/abs/1908.100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0" y="0"/>
            <a:ext cx="12191400" cy="1416960"/>
          </a:xfrm>
          <a:prstGeom prst="rect">
            <a:avLst/>
          </a:prstGeom>
          <a:solidFill>
            <a:srgbClr val="0B2E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0" y="0"/>
            <a:ext cx="200880" cy="1416960"/>
          </a:xfrm>
          <a:prstGeom prst="rect">
            <a:avLst/>
          </a:prstGeom>
          <a:solidFill>
            <a:srgbClr val="2F6FB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2004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— Prototype Stage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89604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CE9F7"/>
                </a:solidFill>
                <a:effectLst/>
                <a:uFillTx/>
                <a:latin typeface="Calibri"/>
                <a:ea typeface="Calibri"/>
              </a:rPr>
              <a:t>Submission Deck Template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5"/>
          <p:cNvSpPr/>
          <p:nvPr/>
        </p:nvSpPr>
        <p:spPr>
          <a:xfrm>
            <a:off x="594360" y="1920240"/>
            <a:ext cx="6583320" cy="397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50320" y="2084760"/>
            <a:ext cx="60714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Team Details 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850320" y="2423160"/>
            <a:ext cx="6071400" cy="33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sz="2000" dirty="0"/>
              <a:t>Team: </a:t>
            </a:r>
            <a:r>
              <a:rPr lang="en-US" sz="2000" dirty="0"/>
              <a:t>ESPADA</a:t>
            </a:r>
            <a:r>
              <a:rPr sz="2000" dirty="0"/>
              <a:t>|   Team-ID: </a:t>
            </a:r>
            <a:r>
              <a:rPr lang="en-US" sz="2000" dirty="0"/>
              <a:t>[p-2023-27-AD-018]</a:t>
            </a:r>
            <a:endParaRPr lang="en-US" sz="2000" b="1" dirty="0">
              <a:ea typeface="Calibri"/>
              <a:cs typeface="Calibri"/>
            </a:endParaRPr>
          </a:p>
          <a:p>
            <a:r>
              <a:rPr sz="2000" dirty="0"/>
              <a:t>Lead: </a:t>
            </a:r>
            <a:r>
              <a:rPr lang="en-US" sz="2000" dirty="0"/>
              <a:t>Sanjay S</a:t>
            </a:r>
            <a:r>
              <a:rPr sz="2000" dirty="0"/>
              <a:t>   |  Members: </a:t>
            </a:r>
            <a:r>
              <a:rPr lang="en-US" sz="2000" dirty="0"/>
              <a:t>Yogiram KV, Srijith S, Ragu R </a:t>
            </a:r>
            <a:r>
              <a:rPr sz="2000" dirty="0"/>
              <a:t>Mentor: </a:t>
            </a:r>
            <a:r>
              <a:rPr lang="en-US" sz="2000" dirty="0"/>
              <a:t>Meera Antony</a:t>
            </a:r>
            <a:r>
              <a:rPr sz="2000" dirty="0"/>
              <a:t>   |   Lab Code: </a:t>
            </a:r>
            <a:r>
              <a:rPr lang="en-US" sz="2000" dirty="0"/>
              <a:t>AD</a:t>
            </a:r>
            <a:endParaRPr sz="2000" dirty="0">
              <a:ea typeface="Calibri"/>
              <a:cs typeface="Calibri"/>
            </a:endParaRPr>
          </a:p>
          <a:p>
            <a:r>
              <a:rPr sz="2000" dirty="0"/>
              <a:t>Cohort: </a:t>
            </a:r>
            <a:r>
              <a:rPr lang="en-US" sz="2000" dirty="0"/>
              <a:t>2023-2027</a:t>
            </a:r>
            <a:r>
              <a:rPr sz="2000" dirty="0"/>
              <a:t>   |   Date: </a:t>
            </a:r>
            <a:r>
              <a:rPr lang="en-US" sz="2000" dirty="0"/>
              <a:t>02/02/2025</a:t>
            </a:r>
          </a:p>
        </p:txBody>
      </p:sp>
      <p:sp>
        <p:nvSpPr>
          <p:cNvPr id="16" name="Shape 8"/>
          <p:cNvSpPr/>
          <p:nvPr/>
        </p:nvSpPr>
        <p:spPr>
          <a:xfrm>
            <a:off x="7498080" y="1920240"/>
            <a:ext cx="4068720" cy="3977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9"/>
          <p:cNvSpPr/>
          <p:nvPr/>
        </p:nvSpPr>
        <p:spPr>
          <a:xfrm>
            <a:off x="7754040" y="2084760"/>
            <a:ext cx="3556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Prototype Strategy</a:t>
            </a:r>
            <a:endParaRPr lang="en-US" sz="1600" b="1" u="none" strike="noStrike">
              <a:solidFill>
                <a:srgbClr val="111827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8" name="Text 10"/>
          <p:cNvSpPr/>
          <p:nvPr/>
        </p:nvSpPr>
        <p:spPr>
          <a:xfrm>
            <a:off x="7754040" y="2423160"/>
            <a:ext cx="3556800" cy="33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t>• Working prototype (software / hardware)</a:t>
            </a:r>
          </a:p>
          <a:p>
            <a:r>
              <a:t>• Demo video file upload (MP4, ≤ 2 min)</a:t>
            </a:r>
          </a:p>
          <a:p>
            <a:r>
              <a:t>• Repo/CAD/Notebook links</a:t>
            </a:r>
          </a:p>
          <a:p>
            <a:r>
              <a:t>• Basic validation evidence</a:t>
            </a:r>
          </a:p>
          <a:p>
            <a:r>
              <a:t>• This deck (≈12–15 slides)</a:t>
            </a:r>
          </a:p>
          <a:p>
            <a:endParaRPr/>
          </a:p>
          <a:p>
            <a:r>
              <a:t>Prototype ≠ MVP: no large customer pilots yet.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CONTEXT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Problem &amp; End-User Recap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From earlier stages (validated problem).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7"/>
          <p:cNvSpPr/>
          <p:nvPr/>
        </p:nvSpPr>
        <p:spPr>
          <a:xfrm>
            <a:off x="594360" y="1828800"/>
            <a:ext cx="1097244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850320" y="19933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Fill these (keep short)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960120" y="2514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Problem statement (≤150 words)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1"/>
          <p:cNvSpPr/>
          <p:nvPr/>
        </p:nvSpPr>
        <p:spPr>
          <a:xfrm>
            <a:off x="4032000" y="2505240"/>
            <a:ext cx="7169040" cy="585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141800" y="2615400"/>
            <a:ext cx="694944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Investors struggle to interpret large volumes of financial news in real time, leading to delayed or unclear decision-making. Existing platforms lack instant, aggregated sentiment insights for company-specific news.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960120" y="3081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Target end-user / context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4032360" y="3136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142160" y="3182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Retail investors, traders, and finance students during market hours.</a:t>
            </a:r>
          </a:p>
        </p:txBody>
      </p:sp>
      <p:sp>
        <p:nvSpPr>
          <p:cNvPr id="52" name="Text 16"/>
          <p:cNvSpPr/>
          <p:nvPr/>
        </p:nvSpPr>
        <p:spPr>
          <a:xfrm>
            <a:off x="960120" y="3648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Evidence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7"/>
          <p:cNvSpPr/>
          <p:nvPr/>
        </p:nvSpPr>
        <p:spPr>
          <a:xfrm>
            <a:off x="4032360" y="3703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4142160" y="3749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Manual news tracking is slow and existing tools lack real-time sentiment aggregation.</a:t>
            </a:r>
          </a:p>
        </p:txBody>
      </p:sp>
      <p:sp>
        <p:nvSpPr>
          <p:cNvPr id="55" name="Text 19"/>
          <p:cNvSpPr/>
          <p:nvPr/>
        </p:nvSpPr>
        <p:spPr>
          <a:xfrm>
            <a:off x="960120" y="421524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Success metric(s)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4032360" y="4270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4142160" y="4316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IN" sz="1400" dirty="0"/>
              <a:t>Sentiment updates ≤5 seconds with ≥85% classification accuracy.</a:t>
            </a:r>
          </a:p>
        </p:txBody>
      </p:sp>
      <p:sp>
        <p:nvSpPr>
          <p:cNvPr id="58" name="Shape 2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4"/>
          <p:cNvSpPr/>
          <p:nvPr/>
        </p:nvSpPr>
        <p:spPr>
          <a:xfrm>
            <a:off x="10940142" y="6620400"/>
            <a:ext cx="656897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3/23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SoI Innovation Pipeline</a:t>
            </a:r>
          </a:p>
        </p:txBody>
      </p:sp>
      <p:sp>
        <p:nvSpPr>
          <p:cNvPr id="3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IDEATION</a:t>
            </a:r>
          </a:p>
        </p:txBody>
      </p:sp>
      <p:sp>
        <p:nvSpPr>
          <p:cNvPr id="4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Ideation Recap — Options Explored &amp; Selected Idea</a:t>
            </a:r>
          </a:p>
        </p:txBody>
      </p:sp>
      <p:sp>
        <p:nvSpPr>
          <p:cNvPr id="4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From Ideation stage (ideas explored and selected for PoC).</a:t>
            </a:r>
          </a:p>
        </p:txBody>
      </p:sp>
      <p:sp>
        <p:nvSpPr>
          <p:cNvPr id="43" name="Shape 7"/>
          <p:cNvSpPr/>
          <p:nvPr/>
        </p:nvSpPr>
        <p:spPr>
          <a:xfrm>
            <a:off x="594360" y="1828800"/>
            <a:ext cx="1097244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850320" y="19933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Fill these (keep short)</a:t>
            </a:r>
          </a:p>
        </p:txBody>
      </p:sp>
      <p:sp>
        <p:nvSpPr>
          <p:cNvPr id="45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0"/>
          <p:cNvSpPr/>
          <p:nvPr/>
        </p:nvSpPr>
        <p:spPr>
          <a:xfrm>
            <a:off x="960120" y="2514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Ideas explored (≥3)</a:t>
            </a:r>
          </a:p>
        </p:txBody>
      </p:sp>
      <p:sp>
        <p:nvSpPr>
          <p:cNvPr id="47" name="Shape 11"/>
          <p:cNvSpPr/>
          <p:nvPr/>
        </p:nvSpPr>
        <p:spPr>
          <a:xfrm>
            <a:off x="4032360" y="2569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4142160" y="2615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Real-time sentiment dashboard, AI-based financial chatbot, sentiment alert system.</a:t>
            </a:r>
            <a:endParaRPr dirty="0"/>
          </a:p>
        </p:txBody>
      </p:sp>
      <p:sp>
        <p:nvSpPr>
          <p:cNvPr id="49" name="Text 13"/>
          <p:cNvSpPr/>
          <p:nvPr/>
        </p:nvSpPr>
        <p:spPr>
          <a:xfrm>
            <a:off x="960120" y="3081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Selected idea (taken to PoC)</a:t>
            </a:r>
          </a:p>
        </p:txBody>
      </p:sp>
      <p:sp>
        <p:nvSpPr>
          <p:cNvPr id="50" name="Shape 14"/>
          <p:cNvSpPr/>
          <p:nvPr/>
        </p:nvSpPr>
        <p:spPr>
          <a:xfrm>
            <a:off x="4032360" y="3136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4142160" y="3182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Real-time financial news sentiment analysis dashboard using Kafka and AI.</a:t>
            </a:r>
            <a:endParaRPr dirty="0"/>
          </a:p>
        </p:txBody>
      </p:sp>
      <p:sp>
        <p:nvSpPr>
          <p:cNvPr id="52" name="Text 16"/>
          <p:cNvSpPr/>
          <p:nvPr/>
        </p:nvSpPr>
        <p:spPr>
          <a:xfrm>
            <a:off x="960120" y="3648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Why selected (Design Thinking lenses)</a:t>
            </a:r>
          </a:p>
        </p:txBody>
      </p:sp>
      <p:sp>
        <p:nvSpPr>
          <p:cNvPr id="53" name="Shape 17"/>
          <p:cNvSpPr/>
          <p:nvPr/>
        </p:nvSpPr>
        <p:spPr>
          <a:xfrm>
            <a:off x="4032000" y="3703320"/>
            <a:ext cx="7169040" cy="47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4142160" y="3749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Provides instant, actionable sentiment insights and is feasible, scalable, and technically reliable.</a:t>
            </a:r>
            <a:endParaRPr dirty="0"/>
          </a:p>
        </p:txBody>
      </p:sp>
      <p:sp>
        <p:nvSpPr>
          <p:cNvPr id="55" name="Text 19"/>
          <p:cNvSpPr/>
          <p:nvPr/>
        </p:nvSpPr>
        <p:spPr>
          <a:xfrm>
            <a:off x="960120" y="421524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MoSCoW: Must-have features for PoC</a:t>
            </a:r>
          </a:p>
        </p:txBody>
      </p:sp>
      <p:sp>
        <p:nvSpPr>
          <p:cNvPr id="56" name="Shape 20"/>
          <p:cNvSpPr/>
          <p:nvPr/>
        </p:nvSpPr>
        <p:spPr>
          <a:xfrm>
            <a:off x="4032000" y="4270320"/>
            <a:ext cx="7169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4142160" y="4316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dirty="0"/>
              <a:t>Live news streaming, finance-specific sentiment analysis, sentiment aggregation, interactive dashboard.</a:t>
            </a:r>
            <a:endParaRPr dirty="0"/>
          </a:p>
        </p:txBody>
      </p:sp>
      <p:sp>
        <p:nvSpPr>
          <p:cNvPr id="59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SoI Prototype Stage — Submission Deck</a:t>
            </a:r>
          </a:p>
        </p:txBody>
      </p:sp>
      <p:sp>
        <p:nvSpPr>
          <p:cNvPr id="60" name="Text 24"/>
          <p:cNvSpPr/>
          <p:nvPr/>
        </p:nvSpPr>
        <p:spPr>
          <a:xfrm>
            <a:off x="10867696" y="6560820"/>
            <a:ext cx="729344" cy="260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200"/>
              <a:t>4/23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PoC Recap — What We Built &amp; Learned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Summarize PoC outcomes and gaps that drive prototype.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7"/>
          <p:cNvSpPr/>
          <p:nvPr/>
        </p:nvSpPr>
        <p:spPr>
          <a:xfrm>
            <a:off x="594360" y="1828800"/>
            <a:ext cx="10972440" cy="4754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850320" y="1993320"/>
            <a:ext cx="1046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PoC summary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850320" y="2331720"/>
            <a:ext cx="1046052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 10"/>
          <p:cNvSpPr/>
          <p:nvPr/>
        </p:nvSpPr>
        <p:spPr>
          <a:xfrm>
            <a:off x="960120" y="2514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PoC built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4032360" y="2569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4142160" y="2615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Real-time financial news sentiment analysis system using Kafka streaming, NLP model, and </a:t>
            </a:r>
            <a:r>
              <a:rPr lang="en-US" sz="1400" dirty="0" err="1"/>
              <a:t>Streamlit</a:t>
            </a:r>
            <a:r>
              <a:rPr lang="en-US" sz="1400" dirty="0"/>
              <a:t> dashboard.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960120" y="3081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PoC focus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4"/>
          <p:cNvSpPr/>
          <p:nvPr/>
        </p:nvSpPr>
        <p:spPr>
          <a:xfrm>
            <a:off x="4032360" y="3136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5"/>
          <p:cNvSpPr/>
          <p:nvPr/>
        </p:nvSpPr>
        <p:spPr>
          <a:xfrm>
            <a:off x="4142160" y="3182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Validate accurate real-time sentiment extraction from financial headlines using AI and Kafka.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6"/>
          <p:cNvSpPr/>
          <p:nvPr/>
        </p:nvSpPr>
        <p:spPr>
          <a:xfrm>
            <a:off x="960120" y="364860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PoC evidence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7"/>
          <p:cNvSpPr/>
          <p:nvPr/>
        </p:nvSpPr>
        <p:spPr>
          <a:xfrm>
            <a:off x="4032360" y="3703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4142160" y="3749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Live demos processed 50–100 headlines with sentiment updates under 5 seconds and stable dashboard output.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960120" y="4215240"/>
            <a:ext cx="307188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Key gaps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4032360" y="4270320"/>
            <a:ext cx="716868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1"/>
          <p:cNvSpPr/>
          <p:nvPr/>
        </p:nvSpPr>
        <p:spPr>
          <a:xfrm>
            <a:off x="4142160" y="431604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Limited financial sentiment accuracy, no historical trends, and lack of cloud scalability.</a:t>
            </a:r>
          </a:p>
        </p:txBody>
      </p:sp>
      <p:sp>
        <p:nvSpPr>
          <p:cNvPr id="83" name="Shape 2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10972800" y="6620400"/>
            <a:ext cx="6242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5/23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Objectives &amp; Success Criteria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Define what “success” means and how you will test.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7"/>
          <p:cNvSpPr/>
          <p:nvPr/>
        </p:nvSpPr>
        <p:spPr>
          <a:xfrm>
            <a:off x="594360" y="1920240"/>
            <a:ext cx="36205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8"/>
          <p:cNvSpPr/>
          <p:nvPr/>
        </p:nvSpPr>
        <p:spPr>
          <a:xfrm>
            <a:off x="704160" y="201168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Prototype objective / risk to reduce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4215240" y="1920240"/>
            <a:ext cx="17553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0"/>
          <p:cNvSpPr/>
          <p:nvPr/>
        </p:nvSpPr>
        <p:spPr>
          <a:xfrm>
            <a:off x="4325040" y="2011680"/>
            <a:ext cx="1535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Metric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1"/>
          <p:cNvSpPr/>
          <p:nvPr/>
        </p:nvSpPr>
        <p:spPr>
          <a:xfrm>
            <a:off x="59709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608076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Target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3"/>
          <p:cNvSpPr/>
          <p:nvPr/>
        </p:nvSpPr>
        <p:spPr>
          <a:xfrm>
            <a:off x="7946280" y="1920240"/>
            <a:ext cx="36205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4"/>
          <p:cNvSpPr/>
          <p:nvPr/>
        </p:nvSpPr>
        <p:spPr>
          <a:xfrm>
            <a:off x="8055720" y="2011680"/>
            <a:ext cx="34012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we will test (prototype)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594360" y="237744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Ensure real-time end-to-end data flow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6"/>
          <p:cNvSpPr/>
          <p:nvPr/>
        </p:nvSpPr>
        <p:spPr>
          <a:xfrm>
            <a:off x="4215240" y="2377440"/>
            <a:ext cx="175536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System latency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7"/>
          <p:cNvSpPr/>
          <p:nvPr/>
        </p:nvSpPr>
        <p:spPr>
          <a:xfrm>
            <a:off x="5970960" y="2377440"/>
            <a:ext cx="197460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≤ 5 seconds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8"/>
          <p:cNvSpPr/>
          <p:nvPr/>
        </p:nvSpPr>
        <p:spPr>
          <a:xfrm>
            <a:off x="7946280" y="237744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Measure time from news ingestion to dashboard update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9"/>
          <p:cNvSpPr/>
          <p:nvPr/>
        </p:nvSpPr>
        <p:spPr>
          <a:xfrm>
            <a:off x="594360" y="316368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Improve financial sentiment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0"/>
          <p:cNvSpPr/>
          <p:nvPr/>
        </p:nvSpPr>
        <p:spPr>
          <a:xfrm>
            <a:off x="4215240" y="3163680"/>
            <a:ext cx="175536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Classification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1"/>
          <p:cNvSpPr/>
          <p:nvPr/>
        </p:nvSpPr>
        <p:spPr>
          <a:xfrm>
            <a:off x="5970960" y="3163680"/>
            <a:ext cx="197460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≥ 85%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2"/>
          <p:cNvSpPr/>
          <p:nvPr/>
        </p:nvSpPr>
        <p:spPr>
          <a:xfrm>
            <a:off x="7946280" y="3163680"/>
            <a:ext cx="3620520" cy="78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Manually validate sampled headlines vs model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3"/>
          <p:cNvSpPr/>
          <p:nvPr/>
        </p:nvSpPr>
        <p:spPr>
          <a:xfrm>
            <a:off x="594360" y="395028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Validate usability of sentiment insights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4"/>
          <p:cNvSpPr/>
          <p:nvPr/>
        </p:nvSpPr>
        <p:spPr>
          <a:xfrm>
            <a:off x="4215240" y="3950280"/>
            <a:ext cx="175536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User clarity &amp; interpretation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25"/>
          <p:cNvSpPr/>
          <p:nvPr/>
        </p:nvSpPr>
        <p:spPr>
          <a:xfrm>
            <a:off x="5970960" y="3950280"/>
            <a:ext cx="197460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Clear sentiment summary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26"/>
          <p:cNvSpPr/>
          <p:nvPr/>
        </p:nvSpPr>
        <p:spPr>
          <a:xfrm>
            <a:off x="7946280" y="3950280"/>
            <a:ext cx="3620520" cy="785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Conduct short user walkthroughs on dashboard usage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6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7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8"/>
          <p:cNvSpPr/>
          <p:nvPr/>
        </p:nvSpPr>
        <p:spPr>
          <a:xfrm>
            <a:off x="10961914" y="6620400"/>
            <a:ext cx="635126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6/23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STRATEGY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Strategy Option A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Works-like functional (integration &amp; metrics first)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 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Shape 13"/>
          <p:cNvSpPr/>
          <p:nvPr/>
        </p:nvSpPr>
        <p:spPr>
          <a:xfrm>
            <a:off x="594360" y="1874520"/>
            <a:ext cx="112924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1023730" y="2039040"/>
            <a:ext cx="507227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Our Plan: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850320" y="2487240"/>
            <a:ext cx="257868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Why this fits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7"/>
          <p:cNvSpPr/>
          <p:nvPr/>
        </p:nvSpPr>
        <p:spPr>
          <a:xfrm>
            <a:off x="6096000" y="2541960"/>
            <a:ext cx="5425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6096000" y="2560680"/>
            <a:ext cx="5325454" cy="3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End-to-end integration of streaming, AI inference, and dashboard performance is the biggest risk.</a:t>
            </a:r>
          </a:p>
        </p:txBody>
      </p:sp>
      <p:sp>
        <p:nvSpPr>
          <p:cNvPr id="168" name="Text 19"/>
          <p:cNvSpPr/>
          <p:nvPr/>
        </p:nvSpPr>
        <p:spPr>
          <a:xfrm>
            <a:off x="850320" y="2999160"/>
            <a:ext cx="2797341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v1 goal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0"/>
          <p:cNvSpPr/>
          <p:nvPr/>
        </p:nvSpPr>
        <p:spPr>
          <a:xfrm>
            <a:off x="6096000" y="3054240"/>
            <a:ext cx="5425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1"/>
          <p:cNvSpPr/>
          <p:nvPr/>
        </p:nvSpPr>
        <p:spPr>
          <a:xfrm>
            <a:off x="6085826" y="3081960"/>
            <a:ext cx="5325454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Build a fully working real-time pipeline from financial news ingestion to sentiment visualization.</a:t>
            </a:r>
          </a:p>
        </p:txBody>
      </p:sp>
      <p:sp>
        <p:nvSpPr>
          <p:cNvPr id="171" name="Text 22"/>
          <p:cNvSpPr/>
          <p:nvPr/>
        </p:nvSpPr>
        <p:spPr>
          <a:xfrm>
            <a:off x="849961" y="3511440"/>
            <a:ext cx="279770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Integrations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3"/>
          <p:cNvSpPr/>
          <p:nvPr/>
        </p:nvSpPr>
        <p:spPr>
          <a:xfrm>
            <a:off x="6096000" y="3566160"/>
            <a:ext cx="5425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4"/>
          <p:cNvSpPr/>
          <p:nvPr/>
        </p:nvSpPr>
        <p:spPr>
          <a:xfrm>
            <a:off x="6085826" y="3804120"/>
            <a:ext cx="5325454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IN" sz="1400" dirty="0"/>
              <a:t>Google News RSS → Kafka Producer/Consumer → </a:t>
            </a:r>
            <a:r>
              <a:rPr lang="en-IN" sz="1400" dirty="0" err="1"/>
              <a:t>FinBERT</a:t>
            </a:r>
            <a:r>
              <a:rPr lang="en-IN" sz="1400" dirty="0"/>
              <a:t> sentiment model → </a:t>
            </a:r>
            <a:r>
              <a:rPr lang="en-IN" sz="1400" dirty="0" err="1"/>
              <a:t>Streamlit</a:t>
            </a:r>
            <a:r>
              <a:rPr lang="en-IN" sz="1400" dirty="0"/>
              <a:t> dashboard.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5"/>
          <p:cNvSpPr/>
          <p:nvPr/>
        </p:nvSpPr>
        <p:spPr>
          <a:xfrm>
            <a:off x="849602" y="4023360"/>
            <a:ext cx="2798059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Definition of Done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26"/>
          <p:cNvSpPr/>
          <p:nvPr/>
        </p:nvSpPr>
        <p:spPr>
          <a:xfrm>
            <a:off x="6096000" y="4078080"/>
            <a:ext cx="5425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7"/>
          <p:cNvSpPr/>
          <p:nvPr/>
        </p:nvSpPr>
        <p:spPr>
          <a:xfrm>
            <a:off x="6096000" y="4316040"/>
            <a:ext cx="5315280" cy="1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Live news streams update sentiment metrics on the dashboard within target latency.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8"/>
          <p:cNvSpPr/>
          <p:nvPr/>
        </p:nvSpPr>
        <p:spPr>
          <a:xfrm>
            <a:off x="849602" y="4535280"/>
            <a:ext cx="2798059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Validation + metrics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9"/>
          <p:cNvSpPr/>
          <p:nvPr/>
        </p:nvSpPr>
        <p:spPr>
          <a:xfrm>
            <a:off x="6096000" y="4590360"/>
            <a:ext cx="5425080" cy="402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0"/>
          <p:cNvSpPr/>
          <p:nvPr/>
        </p:nvSpPr>
        <p:spPr>
          <a:xfrm>
            <a:off x="6096000" y="4764240"/>
            <a:ext cx="5325454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Latency ≤ 5 seconds, sentiment accuracy ≥ 85%, stable real-time updates.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1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Keep this slide ONLY if you selected this option.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3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3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4"/>
          <p:cNvSpPr/>
          <p:nvPr/>
        </p:nvSpPr>
        <p:spPr>
          <a:xfrm>
            <a:off x="10929256" y="6584040"/>
            <a:ext cx="667783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8/23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SCOPE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Scope, Requirements &amp; Constraints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Define what you WILL build, and what you WON’T (for now).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7"/>
          <p:cNvSpPr/>
          <p:nvPr/>
        </p:nvSpPr>
        <p:spPr>
          <a:xfrm>
            <a:off x="594360" y="1874520"/>
            <a:ext cx="562320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8"/>
          <p:cNvSpPr/>
          <p:nvPr/>
        </p:nvSpPr>
        <p:spPr>
          <a:xfrm>
            <a:off x="850320" y="2039040"/>
            <a:ext cx="5111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Scope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9"/>
          <p:cNvSpPr/>
          <p:nvPr/>
        </p:nvSpPr>
        <p:spPr>
          <a:xfrm>
            <a:off x="850320" y="2377440"/>
            <a:ext cx="511128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 10"/>
          <p:cNvSpPr/>
          <p:nvPr/>
        </p:nvSpPr>
        <p:spPr>
          <a:xfrm>
            <a:off x="914400" y="251460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 scope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1"/>
          <p:cNvSpPr/>
          <p:nvPr/>
        </p:nvSpPr>
        <p:spPr>
          <a:xfrm>
            <a:off x="2409120" y="2532960"/>
            <a:ext cx="3488400" cy="62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2"/>
          <p:cNvSpPr/>
          <p:nvPr/>
        </p:nvSpPr>
        <p:spPr>
          <a:xfrm>
            <a:off x="2519280" y="2615040"/>
            <a:ext cx="3268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dirty="0"/>
              <a:t>Real-time financial news ingestion, Kafka streaming, </a:t>
            </a:r>
            <a:r>
              <a:rPr lang="en-US" sz="1400" dirty="0" err="1"/>
              <a:t>FinBERT</a:t>
            </a:r>
            <a:r>
              <a:rPr lang="en-US" sz="1400" dirty="0"/>
              <a:t>-based sentiment analysis, live </a:t>
            </a:r>
            <a:r>
              <a:rPr lang="en-US" sz="1400" dirty="0" err="1"/>
              <a:t>Streamlit</a:t>
            </a:r>
            <a:r>
              <a:rPr lang="en-US" sz="1400" dirty="0"/>
              <a:t> dashboard.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3"/>
          <p:cNvSpPr/>
          <p:nvPr/>
        </p:nvSpPr>
        <p:spPr>
          <a:xfrm>
            <a:off x="914400" y="313632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Out of scope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4"/>
          <p:cNvSpPr/>
          <p:nvPr/>
        </p:nvSpPr>
        <p:spPr>
          <a:xfrm>
            <a:off x="2409480" y="319140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5"/>
          <p:cNvSpPr/>
          <p:nvPr/>
        </p:nvSpPr>
        <p:spPr>
          <a:xfrm>
            <a:off x="2514240" y="3237120"/>
            <a:ext cx="3273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Stock price prediction, trading execution, large-scale cloud deployment, multi-user authentication.</a:t>
            </a:r>
          </a:p>
        </p:txBody>
      </p:sp>
      <p:sp>
        <p:nvSpPr>
          <p:cNvPr id="305" name="Text 16"/>
          <p:cNvSpPr/>
          <p:nvPr/>
        </p:nvSpPr>
        <p:spPr>
          <a:xfrm>
            <a:off x="914400" y="375804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Assumptions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Shape 17"/>
          <p:cNvSpPr/>
          <p:nvPr/>
        </p:nvSpPr>
        <p:spPr>
          <a:xfrm>
            <a:off x="2409480" y="381312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8"/>
          <p:cNvSpPr/>
          <p:nvPr/>
        </p:nvSpPr>
        <p:spPr>
          <a:xfrm>
            <a:off x="2519280" y="3858840"/>
            <a:ext cx="3268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Stable internet access, English financial news availability, local machine execution.</a:t>
            </a:r>
          </a:p>
        </p:txBody>
      </p:sp>
      <p:sp>
        <p:nvSpPr>
          <p:cNvPr id="308" name="Text 19"/>
          <p:cNvSpPr/>
          <p:nvPr/>
        </p:nvSpPr>
        <p:spPr>
          <a:xfrm>
            <a:off x="914400" y="4380120"/>
            <a:ext cx="149472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Constraints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20"/>
          <p:cNvSpPr/>
          <p:nvPr/>
        </p:nvSpPr>
        <p:spPr>
          <a:xfrm>
            <a:off x="2409480" y="4434840"/>
            <a:ext cx="3488040" cy="51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21"/>
          <p:cNvSpPr/>
          <p:nvPr/>
        </p:nvSpPr>
        <p:spPr>
          <a:xfrm>
            <a:off x="2519280" y="4480560"/>
            <a:ext cx="3268800" cy="42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400" dirty="0"/>
              <a:t>Limited time, CPU-based inference, no paid APIs or cloud Kafka services.</a:t>
            </a:r>
          </a:p>
        </p:txBody>
      </p:sp>
      <p:sp>
        <p:nvSpPr>
          <p:cNvPr id="311" name="Shape 22"/>
          <p:cNvSpPr/>
          <p:nvPr/>
        </p:nvSpPr>
        <p:spPr>
          <a:xfrm>
            <a:off x="6492240" y="1874520"/>
            <a:ext cx="539460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23"/>
          <p:cNvSpPr/>
          <p:nvPr/>
        </p:nvSpPr>
        <p:spPr>
          <a:xfrm>
            <a:off x="6748200" y="2039040"/>
            <a:ext cx="488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Acceptance checks (3–5)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24"/>
          <p:cNvSpPr/>
          <p:nvPr/>
        </p:nvSpPr>
        <p:spPr>
          <a:xfrm>
            <a:off x="6748200" y="2377440"/>
            <a:ext cx="488268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dirty="0"/>
          </a:p>
        </p:txBody>
      </p:sp>
      <p:sp>
        <p:nvSpPr>
          <p:cNvPr id="314" name="Shape 2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27"/>
          <p:cNvSpPr/>
          <p:nvPr/>
        </p:nvSpPr>
        <p:spPr>
          <a:xfrm>
            <a:off x="10755086" y="6620400"/>
            <a:ext cx="841954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12/23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3C4C7EB-1E72-8C19-F3C1-51FC42382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200" y="2412430"/>
            <a:ext cx="544379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updates appear on dashboard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≤ 5s (p95)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classification accuracy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≥ 85%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sampled headlines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Kafka producer–consumer pipeline runs continuously without crashes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correctly displays positive/negative/neutral counts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DESIGN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System Overview — Architecture / Design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Show end-to-end flow. Mark simulated components clearly.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7"/>
          <p:cNvSpPr/>
          <p:nvPr/>
        </p:nvSpPr>
        <p:spPr>
          <a:xfrm>
            <a:off x="594360" y="1920240"/>
            <a:ext cx="10972440" cy="4297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777240" y="2030040"/>
            <a:ext cx="10606680" cy="407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sz="1400" b="1" dirty="0"/>
              <a:t>End-to-End Flow:</a:t>
            </a:r>
            <a:br>
              <a:rPr lang="en-IN" sz="1400" dirty="0"/>
            </a:br>
            <a:r>
              <a:rPr lang="en-IN" sz="1400" dirty="0"/>
              <a:t>User → </a:t>
            </a:r>
            <a:r>
              <a:rPr lang="en-IN" sz="1400" dirty="0" err="1"/>
              <a:t>Streamlit</a:t>
            </a:r>
            <a:r>
              <a:rPr lang="en-IN" sz="1400" dirty="0"/>
              <a:t> UI → Google News RSS → Kafka Producer → Kafka Topic → Kafka Consumer → </a:t>
            </a:r>
            <a:r>
              <a:rPr lang="en-IN" sz="1400" dirty="0" err="1"/>
              <a:t>FinBERT</a:t>
            </a:r>
            <a:r>
              <a:rPr lang="en-IN" sz="1400" dirty="0"/>
              <a:t> Sentiment Analysis → Aggregation Logic → </a:t>
            </a:r>
            <a:r>
              <a:rPr lang="en-IN" sz="1400" dirty="0" err="1"/>
              <a:t>Streamlit</a:t>
            </a:r>
            <a:r>
              <a:rPr lang="en-IN" sz="1400" dirty="0"/>
              <a:t> Dashboard</a:t>
            </a:r>
          </a:p>
          <a:p>
            <a:r>
              <a:rPr lang="en-IN" sz="1400" b="1" dirty="0"/>
              <a:t>Modules:</a:t>
            </a:r>
            <a:endParaRPr lang="en-IN" sz="1400" dirty="0"/>
          </a:p>
          <a:p>
            <a:r>
              <a:rPr lang="en-IN" sz="1400" dirty="0"/>
              <a:t>Data Ingestion: Google News RSS</a:t>
            </a:r>
          </a:p>
          <a:p>
            <a:r>
              <a:rPr lang="en-IN" sz="1400" dirty="0"/>
              <a:t>Streaming Layer: Apache Kafka (Producer–Consumer)</a:t>
            </a:r>
          </a:p>
          <a:p>
            <a:r>
              <a:rPr lang="en-IN" sz="1400" dirty="0"/>
              <a:t>AI Processing: </a:t>
            </a:r>
            <a:r>
              <a:rPr lang="en-IN" sz="1400" dirty="0" err="1"/>
              <a:t>FinBERT</a:t>
            </a:r>
            <a:r>
              <a:rPr lang="en-IN" sz="1400" dirty="0"/>
              <a:t> (CPU-based sentiment inference)</a:t>
            </a:r>
          </a:p>
          <a:p>
            <a:r>
              <a:rPr lang="en-IN" sz="1400" dirty="0"/>
              <a:t>Visualization: </a:t>
            </a:r>
            <a:r>
              <a:rPr lang="en-IN" sz="1400" dirty="0" err="1"/>
              <a:t>Streamlit</a:t>
            </a:r>
            <a:r>
              <a:rPr lang="en-IN" sz="1400" dirty="0"/>
              <a:t> dashboard</a:t>
            </a:r>
          </a:p>
          <a:p>
            <a:r>
              <a:rPr lang="en-IN" sz="1400" b="1" dirty="0"/>
              <a:t>Data Flow:</a:t>
            </a:r>
            <a:br>
              <a:rPr lang="en-IN" sz="1400" dirty="0"/>
            </a:br>
            <a:r>
              <a:rPr lang="en-IN" sz="1400" dirty="0"/>
              <a:t>Company name input triggers news fetch → headlines streamed via Kafka → sentiment </a:t>
            </a:r>
            <a:r>
              <a:rPr lang="en-IN" sz="1400" dirty="0" err="1"/>
              <a:t>analyzed</a:t>
            </a:r>
            <a:r>
              <a:rPr lang="en-IN" sz="1400" dirty="0"/>
              <a:t> per headline → results aggregated and displayed live.</a:t>
            </a:r>
          </a:p>
          <a:p>
            <a:r>
              <a:rPr lang="en-IN" sz="1400" b="1" dirty="0"/>
              <a:t>Tech Stack:</a:t>
            </a:r>
            <a:br>
              <a:rPr lang="en-IN" sz="1400" dirty="0"/>
            </a:br>
            <a:r>
              <a:rPr lang="en-IN" sz="1400" dirty="0"/>
              <a:t>Python, Apache Kafka, </a:t>
            </a:r>
            <a:r>
              <a:rPr lang="en-IN" sz="1400" dirty="0" err="1"/>
              <a:t>HuggingFace</a:t>
            </a:r>
            <a:r>
              <a:rPr lang="en-IN" sz="1400" dirty="0"/>
              <a:t> </a:t>
            </a:r>
            <a:r>
              <a:rPr lang="en-IN" sz="1400" dirty="0" err="1"/>
              <a:t>FinBERT</a:t>
            </a:r>
            <a:r>
              <a:rPr lang="en-IN" sz="1400" dirty="0"/>
              <a:t>, </a:t>
            </a:r>
            <a:r>
              <a:rPr lang="en-IN" sz="1400" dirty="0" err="1"/>
              <a:t>Streamlit</a:t>
            </a:r>
            <a:r>
              <a:rPr lang="en-IN" sz="1400" dirty="0"/>
              <a:t>, Google News RSS.</a:t>
            </a:r>
          </a:p>
          <a:p>
            <a:r>
              <a:rPr lang="en-IN" sz="1400" b="1" dirty="0"/>
              <a:t>Simulated / Mocked Components:</a:t>
            </a:r>
            <a:br>
              <a:rPr lang="en-IN" sz="1400" dirty="0"/>
            </a:br>
            <a:r>
              <a:rPr lang="en-IN" sz="1400" dirty="0"/>
              <a:t>None — all components are real; system runs locally without cloud services.</a:t>
            </a:r>
          </a:p>
          <a:p>
            <a:r>
              <a:rPr lang="en-IN" sz="1400" b="1" dirty="0"/>
              <a:t>Failure Points Noted:</a:t>
            </a:r>
            <a:br>
              <a:rPr lang="en-IN" sz="1400" dirty="0"/>
            </a:br>
            <a:r>
              <a:rPr lang="en-IN" sz="1400" dirty="0"/>
              <a:t>RSS feed unavailability, Kafka broker downtime, high CPU inference latency.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 dirty="0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1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10820400" y="6620400"/>
            <a:ext cx="776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13/23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Build Plan &amp; Timeline (Sprints)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Break work into 2–4 short sprints. Each ends with a demoable increment.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7"/>
          <p:cNvSpPr/>
          <p:nvPr/>
        </p:nvSpPr>
        <p:spPr>
          <a:xfrm>
            <a:off x="5943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8"/>
          <p:cNvSpPr/>
          <p:nvPr/>
        </p:nvSpPr>
        <p:spPr>
          <a:xfrm>
            <a:off x="70416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Sprint / Week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9"/>
          <p:cNvSpPr/>
          <p:nvPr/>
        </p:nvSpPr>
        <p:spPr>
          <a:xfrm>
            <a:off x="2569320" y="1920240"/>
            <a:ext cx="46083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0"/>
          <p:cNvSpPr/>
          <p:nvPr/>
        </p:nvSpPr>
        <p:spPr>
          <a:xfrm>
            <a:off x="2679120" y="201168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tasks &amp; deliverables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1"/>
          <p:cNvSpPr/>
          <p:nvPr/>
        </p:nvSpPr>
        <p:spPr>
          <a:xfrm>
            <a:off x="7178040" y="1920240"/>
            <a:ext cx="24138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2"/>
          <p:cNvSpPr/>
          <p:nvPr/>
        </p:nvSpPr>
        <p:spPr>
          <a:xfrm>
            <a:off x="7287840" y="2011680"/>
            <a:ext cx="21942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Owner(s)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Shape 13"/>
          <p:cNvSpPr/>
          <p:nvPr/>
        </p:nvSpPr>
        <p:spPr>
          <a:xfrm>
            <a:off x="959220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4"/>
          <p:cNvSpPr/>
          <p:nvPr/>
        </p:nvSpPr>
        <p:spPr>
          <a:xfrm>
            <a:off x="97016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Status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5"/>
          <p:cNvSpPr/>
          <p:nvPr/>
        </p:nvSpPr>
        <p:spPr>
          <a:xfrm>
            <a:off x="594360" y="237744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48" name="Shape 16"/>
          <p:cNvSpPr/>
          <p:nvPr/>
        </p:nvSpPr>
        <p:spPr>
          <a:xfrm>
            <a:off x="2569320" y="2377440"/>
            <a:ext cx="46083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Kafka setup, news ingestion pipeline, producer–consumer working end-to-end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7"/>
          <p:cNvSpPr/>
          <p:nvPr/>
        </p:nvSpPr>
        <p:spPr>
          <a:xfrm>
            <a:off x="7178040" y="2377440"/>
            <a:ext cx="24138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Yogiram K V</a:t>
            </a:r>
          </a:p>
        </p:txBody>
      </p:sp>
      <p:sp>
        <p:nvSpPr>
          <p:cNvPr id="350" name="Shape 18"/>
          <p:cNvSpPr/>
          <p:nvPr/>
        </p:nvSpPr>
        <p:spPr>
          <a:xfrm>
            <a:off x="9592200" y="237744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Completed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Shape 19"/>
          <p:cNvSpPr/>
          <p:nvPr/>
        </p:nvSpPr>
        <p:spPr>
          <a:xfrm>
            <a:off x="594360" y="333756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</a:p>
        </p:txBody>
      </p:sp>
      <p:sp>
        <p:nvSpPr>
          <p:cNvPr id="352" name="Shape 20"/>
          <p:cNvSpPr/>
          <p:nvPr/>
        </p:nvSpPr>
        <p:spPr>
          <a:xfrm>
            <a:off x="2569320" y="3337560"/>
            <a:ext cx="46083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FinBERT sentiment integration, message processing, sentiment aggregation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1"/>
          <p:cNvSpPr/>
          <p:nvPr/>
        </p:nvSpPr>
        <p:spPr>
          <a:xfrm>
            <a:off x="7178040" y="3337560"/>
            <a:ext cx="24138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Sanjay S</a:t>
            </a:r>
          </a:p>
        </p:txBody>
      </p:sp>
      <p:sp>
        <p:nvSpPr>
          <p:cNvPr id="354" name="Shape 22"/>
          <p:cNvSpPr/>
          <p:nvPr/>
        </p:nvSpPr>
        <p:spPr>
          <a:xfrm>
            <a:off x="9592200" y="3337560"/>
            <a:ext cx="19746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Completed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23"/>
          <p:cNvSpPr/>
          <p:nvPr/>
        </p:nvSpPr>
        <p:spPr>
          <a:xfrm>
            <a:off x="594360" y="429768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/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</a:p>
        </p:txBody>
      </p:sp>
      <p:sp>
        <p:nvSpPr>
          <p:cNvPr id="356" name="Shape 24"/>
          <p:cNvSpPr/>
          <p:nvPr/>
        </p:nvSpPr>
        <p:spPr>
          <a:xfrm>
            <a:off x="2569320" y="4297680"/>
            <a:ext cx="46083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Streamlit dashboard, live sentiment visualization, end-to-end demo validation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5"/>
          <p:cNvSpPr/>
          <p:nvPr/>
        </p:nvSpPr>
        <p:spPr>
          <a:xfrm>
            <a:off x="7178040" y="4297680"/>
            <a:ext cx="24138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Ragu R, Srijith S</a:t>
            </a:r>
          </a:p>
        </p:txBody>
      </p:sp>
      <p:sp>
        <p:nvSpPr>
          <p:cNvPr id="358" name="Shape 26"/>
          <p:cNvSpPr/>
          <p:nvPr/>
        </p:nvSpPr>
        <p:spPr>
          <a:xfrm>
            <a:off x="9592200" y="4297680"/>
            <a:ext cx="19746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Completed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2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33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34"/>
          <p:cNvSpPr/>
          <p:nvPr/>
        </p:nvSpPr>
        <p:spPr>
          <a:xfrm>
            <a:off x="10831286" y="6620400"/>
            <a:ext cx="765754" cy="15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14/23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RESOURCES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Resources, BOM &amp; Budget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t>List what you need. Keep it realistic and within constraints. (BOM = Bill of Materials)</a:t>
            </a:r>
          </a:p>
        </p:txBody>
      </p:sp>
      <p:sp>
        <p:nvSpPr>
          <p:cNvPr id="374" name="Shape 7"/>
          <p:cNvSpPr/>
          <p:nvPr/>
        </p:nvSpPr>
        <p:spPr>
          <a:xfrm>
            <a:off x="594360" y="1920240"/>
            <a:ext cx="39499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8"/>
          <p:cNvSpPr/>
          <p:nvPr/>
        </p:nvSpPr>
        <p:spPr>
          <a:xfrm>
            <a:off x="704160" y="2011680"/>
            <a:ext cx="3730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Item / resource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9"/>
          <p:cNvSpPr/>
          <p:nvPr/>
        </p:nvSpPr>
        <p:spPr>
          <a:xfrm>
            <a:off x="4544640" y="1920240"/>
            <a:ext cx="15357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0"/>
          <p:cNvSpPr/>
          <p:nvPr/>
        </p:nvSpPr>
        <p:spPr>
          <a:xfrm>
            <a:off x="4654440" y="2011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11"/>
          <p:cNvSpPr/>
          <p:nvPr/>
        </p:nvSpPr>
        <p:spPr>
          <a:xfrm>
            <a:off x="6080760" y="1920240"/>
            <a:ext cx="15357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2"/>
          <p:cNvSpPr/>
          <p:nvPr/>
        </p:nvSpPr>
        <p:spPr>
          <a:xfrm>
            <a:off x="6190560" y="2011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Unit cost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3"/>
          <p:cNvSpPr/>
          <p:nvPr/>
        </p:nvSpPr>
        <p:spPr>
          <a:xfrm>
            <a:off x="761688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14"/>
          <p:cNvSpPr/>
          <p:nvPr/>
        </p:nvSpPr>
        <p:spPr>
          <a:xfrm>
            <a:off x="772668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Source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15"/>
          <p:cNvSpPr/>
          <p:nvPr/>
        </p:nvSpPr>
        <p:spPr>
          <a:xfrm>
            <a:off x="959220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6"/>
          <p:cNvSpPr/>
          <p:nvPr/>
        </p:nvSpPr>
        <p:spPr>
          <a:xfrm>
            <a:off x="97016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7"/>
          <p:cNvSpPr/>
          <p:nvPr/>
        </p:nvSpPr>
        <p:spPr>
          <a:xfrm>
            <a:off x="594360" y="2377440"/>
            <a:ext cx="39499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Apache Kafka (Local setup)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8"/>
          <p:cNvSpPr/>
          <p:nvPr/>
        </p:nvSpPr>
        <p:spPr>
          <a:xfrm>
            <a:off x="4544640" y="2377440"/>
            <a:ext cx="153576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86" name="Shape 19"/>
          <p:cNvSpPr/>
          <p:nvPr/>
        </p:nvSpPr>
        <p:spPr>
          <a:xfrm>
            <a:off x="6080760" y="2377440"/>
            <a:ext cx="153576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</a:p>
        </p:txBody>
      </p:sp>
      <p:sp>
        <p:nvSpPr>
          <p:cNvPr id="387" name="Shape 20"/>
          <p:cNvSpPr/>
          <p:nvPr/>
        </p:nvSpPr>
        <p:spPr>
          <a:xfrm>
            <a:off x="7616880" y="237744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Open-source</a:t>
            </a:r>
          </a:p>
        </p:txBody>
      </p:sp>
      <p:sp>
        <p:nvSpPr>
          <p:cNvPr id="388" name="Shape 21"/>
          <p:cNvSpPr/>
          <p:nvPr/>
        </p:nvSpPr>
        <p:spPr>
          <a:xfrm>
            <a:off x="9701640" y="2377440"/>
            <a:ext cx="1865160" cy="520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/>
              <a:t>Local broker for real-time streaming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22"/>
          <p:cNvSpPr/>
          <p:nvPr/>
        </p:nvSpPr>
        <p:spPr>
          <a:xfrm>
            <a:off x="594360" y="3145680"/>
            <a:ext cx="39499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AI Model (FinBERT)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23"/>
          <p:cNvSpPr/>
          <p:nvPr/>
        </p:nvSpPr>
        <p:spPr>
          <a:xfrm>
            <a:off x="4544640" y="3145680"/>
            <a:ext cx="153576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91" name="Shape 24"/>
          <p:cNvSpPr/>
          <p:nvPr/>
        </p:nvSpPr>
        <p:spPr>
          <a:xfrm>
            <a:off x="6080760" y="3145680"/>
            <a:ext cx="153576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</a:p>
        </p:txBody>
      </p:sp>
      <p:sp>
        <p:nvSpPr>
          <p:cNvPr id="392" name="Shape 25"/>
          <p:cNvSpPr/>
          <p:nvPr/>
        </p:nvSpPr>
        <p:spPr>
          <a:xfrm>
            <a:off x="761688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Arial"/>
              </a:rPr>
              <a:t>HuggingFace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26"/>
          <p:cNvSpPr/>
          <p:nvPr/>
        </p:nvSpPr>
        <p:spPr>
          <a:xfrm>
            <a:off x="959220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sz="1600"/>
              <a:t>Pre-trained finance sentiment model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27"/>
          <p:cNvSpPr/>
          <p:nvPr/>
        </p:nvSpPr>
        <p:spPr>
          <a:xfrm>
            <a:off x="594360" y="3913560"/>
            <a:ext cx="39499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Streamlit Framework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28"/>
          <p:cNvSpPr/>
          <p:nvPr/>
        </p:nvSpPr>
        <p:spPr>
          <a:xfrm>
            <a:off x="4544640" y="3913560"/>
            <a:ext cx="153576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396" name="Shape 29"/>
          <p:cNvSpPr/>
          <p:nvPr/>
        </p:nvSpPr>
        <p:spPr>
          <a:xfrm>
            <a:off x="6080760" y="3913560"/>
            <a:ext cx="153576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</a:p>
        </p:txBody>
      </p:sp>
      <p:sp>
        <p:nvSpPr>
          <p:cNvPr id="397" name="Shape 30"/>
          <p:cNvSpPr/>
          <p:nvPr/>
        </p:nvSpPr>
        <p:spPr>
          <a:xfrm>
            <a:off x="761688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Open-source</a:t>
            </a:r>
          </a:p>
        </p:txBody>
      </p:sp>
      <p:sp>
        <p:nvSpPr>
          <p:cNvPr id="398" name="Shape 31"/>
          <p:cNvSpPr/>
          <p:nvPr/>
        </p:nvSpPr>
        <p:spPr>
          <a:xfrm>
            <a:off x="959220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/>
              <a:t>Web UI for live sentiment dashboard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32"/>
          <p:cNvSpPr/>
          <p:nvPr/>
        </p:nvSpPr>
        <p:spPr>
          <a:xfrm>
            <a:off x="594360" y="4681800"/>
            <a:ext cx="39499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News Data Source (Google News RSS)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33"/>
          <p:cNvSpPr/>
          <p:nvPr/>
        </p:nvSpPr>
        <p:spPr>
          <a:xfrm>
            <a:off x="4544640" y="4681800"/>
            <a:ext cx="153576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</a:p>
        </p:txBody>
      </p:sp>
      <p:sp>
        <p:nvSpPr>
          <p:cNvPr id="401" name="Shape 34"/>
          <p:cNvSpPr/>
          <p:nvPr/>
        </p:nvSpPr>
        <p:spPr>
          <a:xfrm>
            <a:off x="6080760" y="4681800"/>
            <a:ext cx="153576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0</a:t>
            </a:r>
          </a:p>
        </p:txBody>
      </p:sp>
      <p:sp>
        <p:nvSpPr>
          <p:cNvPr id="402" name="Shape 35"/>
          <p:cNvSpPr/>
          <p:nvPr/>
        </p:nvSpPr>
        <p:spPr>
          <a:xfrm>
            <a:off x="761688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Public RSS</a:t>
            </a:r>
          </a:p>
        </p:txBody>
      </p:sp>
      <p:sp>
        <p:nvSpPr>
          <p:cNvPr id="403" name="Shape 36"/>
          <p:cNvSpPr/>
          <p:nvPr/>
        </p:nvSpPr>
        <p:spPr>
          <a:xfrm>
            <a:off x="959220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 sz="1600"/>
              <a:t>Real-time financial news ingestion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Shape 4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4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47"/>
          <p:cNvSpPr/>
          <p:nvPr/>
        </p:nvSpPr>
        <p:spPr>
          <a:xfrm>
            <a:off x="10831286" y="6620400"/>
            <a:ext cx="765754" cy="2509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15/23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VALIDATE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Demo &amp; Validation Plan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What you will show, how you will test, and what evidence you will capture.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7"/>
          <p:cNvSpPr/>
          <p:nvPr/>
        </p:nvSpPr>
        <p:spPr>
          <a:xfrm>
            <a:off x="594360" y="1874520"/>
            <a:ext cx="56689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8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Demo scenario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9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1.User enters a company name in dashboard</a:t>
            </a:r>
          </a:p>
          <a:p>
            <a:r>
              <a:rPr lang="en-US" dirty="0"/>
              <a:t>2.System fetches latest financial news from RSS</a:t>
            </a:r>
          </a:p>
          <a:p>
            <a:r>
              <a:rPr lang="en-US" dirty="0"/>
              <a:t>3.Headlines stream through Kafka in real time</a:t>
            </a:r>
          </a:p>
          <a:p>
            <a:r>
              <a:rPr lang="en-US" dirty="0"/>
              <a:t>4.Sentiment analyzed  using </a:t>
            </a:r>
            <a:r>
              <a:rPr lang="en-US" dirty="0" err="1"/>
              <a:t>FinBert</a:t>
            </a:r>
            <a:endParaRPr lang="en-US" dirty="0"/>
          </a:p>
          <a:p>
            <a:r>
              <a:rPr lang="en-US" dirty="0"/>
              <a:t>5.Aggregated sentiment is displayed live in dashboard.</a:t>
            </a:r>
            <a:endParaRPr dirty="0"/>
          </a:p>
          <a:p>
            <a:endParaRPr dirty="0"/>
          </a:p>
          <a:p>
            <a:r>
              <a:rPr dirty="0"/>
              <a:t>Audience: Peers</a:t>
            </a:r>
          </a:p>
          <a:p>
            <a:r>
              <a:rPr dirty="0"/>
              <a:t>Duration: ≤ 2 min </a:t>
            </a:r>
            <a:r>
              <a:rPr lang="en-US" dirty="0"/>
              <a:t>recorded demo</a:t>
            </a:r>
            <a:r>
              <a:rPr dirty="0"/>
              <a:t> + live backup.</a:t>
            </a:r>
          </a:p>
        </p:txBody>
      </p:sp>
      <p:sp>
        <p:nvSpPr>
          <p:cNvPr id="425" name="Shape 10"/>
          <p:cNvSpPr/>
          <p:nvPr/>
        </p:nvSpPr>
        <p:spPr>
          <a:xfrm>
            <a:off x="6537960" y="1874520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1"/>
          <p:cNvSpPr/>
          <p:nvPr/>
        </p:nvSpPr>
        <p:spPr>
          <a:xfrm>
            <a:off x="6793920" y="2039040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Validation protocols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2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Test cases / dataset : 50+ </a:t>
            </a:r>
            <a:r>
              <a:rPr lang="en-US" sz="1400" dirty="0"/>
              <a:t>recent financial headlines across 5 companies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Environments : </a:t>
            </a:r>
            <a:r>
              <a:rPr lang="en-IN" sz="1400" dirty="0"/>
              <a:t>Local machine, 3 demo runs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What you will measure: </a:t>
            </a:r>
            <a:r>
              <a:rPr lang="en-US" sz="1400" dirty="0"/>
              <a:t>End-to-end latency, sentiment accuracy, system stability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• Pass/fail thresholds: </a:t>
            </a:r>
            <a:r>
              <a:rPr lang="en-US" sz="1400" dirty="0"/>
              <a:t>≥90% sentiment correctness, dashboard updates ≤5s</a:t>
            </a: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Usability check (small/controlled):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dirty="0"/>
              <a:t>Peers tested company search and sentiment view; observed ease of use and clarity of insights.</a:t>
            </a:r>
          </a:p>
        </p:txBody>
      </p:sp>
      <p:sp>
        <p:nvSpPr>
          <p:cNvPr id="430" name="Shape 15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10863942" y="6620400"/>
            <a:ext cx="733097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16/23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Evidence — Prototype Results &amp; Iterations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Show what improved from v1 → v2, with evidence.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7"/>
          <p:cNvSpPr/>
          <p:nvPr/>
        </p:nvSpPr>
        <p:spPr>
          <a:xfrm>
            <a:off x="594360" y="1920240"/>
            <a:ext cx="153576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8"/>
          <p:cNvSpPr/>
          <p:nvPr/>
        </p:nvSpPr>
        <p:spPr>
          <a:xfrm>
            <a:off x="704160" y="2011680"/>
            <a:ext cx="1316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Version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9"/>
          <p:cNvSpPr/>
          <p:nvPr/>
        </p:nvSpPr>
        <p:spPr>
          <a:xfrm>
            <a:off x="2130480" y="1920240"/>
            <a:ext cx="285264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0"/>
          <p:cNvSpPr/>
          <p:nvPr/>
        </p:nvSpPr>
        <p:spPr>
          <a:xfrm>
            <a:off x="2240280" y="2011680"/>
            <a:ext cx="2633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changed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1"/>
          <p:cNvSpPr/>
          <p:nvPr/>
        </p:nvSpPr>
        <p:spPr>
          <a:xfrm>
            <a:off x="498348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2"/>
          <p:cNvSpPr/>
          <p:nvPr/>
        </p:nvSpPr>
        <p:spPr>
          <a:xfrm>
            <a:off x="509328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Test run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3"/>
          <p:cNvSpPr/>
          <p:nvPr/>
        </p:nvSpPr>
        <p:spPr>
          <a:xfrm>
            <a:off x="717804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4"/>
          <p:cNvSpPr/>
          <p:nvPr/>
        </p:nvSpPr>
        <p:spPr>
          <a:xfrm>
            <a:off x="728784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5"/>
          <p:cNvSpPr/>
          <p:nvPr/>
        </p:nvSpPr>
        <p:spPr>
          <a:xfrm>
            <a:off x="9372600" y="1920240"/>
            <a:ext cx="21942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6"/>
          <p:cNvSpPr/>
          <p:nvPr/>
        </p:nvSpPr>
        <p:spPr>
          <a:xfrm>
            <a:off x="9482400" y="2011680"/>
            <a:ext cx="19746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Evidence link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7"/>
          <p:cNvSpPr/>
          <p:nvPr/>
        </p:nvSpPr>
        <p:spPr>
          <a:xfrm>
            <a:off x="594360" y="2377440"/>
            <a:ext cx="15357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v1</a:t>
            </a:r>
          </a:p>
        </p:txBody>
      </p:sp>
      <p:sp>
        <p:nvSpPr>
          <p:cNvPr id="451" name="Shape 18"/>
          <p:cNvSpPr/>
          <p:nvPr/>
        </p:nvSpPr>
        <p:spPr>
          <a:xfrm>
            <a:off x="2130480" y="2377440"/>
            <a:ext cx="285264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Initial Kafka pipeline with raw news ingestion and basic sentiment 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9"/>
          <p:cNvSpPr/>
          <p:nvPr/>
        </p:nvSpPr>
        <p:spPr>
          <a:xfrm>
            <a:off x="498348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1 end-to-end run with 20 headlines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0"/>
          <p:cNvSpPr/>
          <p:nvPr/>
        </p:nvSpPr>
        <p:spPr>
          <a:xfrm>
            <a:off x="717804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Pipeline worked; latency was inconsistent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1"/>
          <p:cNvSpPr/>
          <p:nvPr/>
        </p:nvSpPr>
        <p:spPr>
          <a:xfrm>
            <a:off x="9372600" y="237744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Screenshot of console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2"/>
          <p:cNvSpPr/>
          <p:nvPr/>
        </p:nvSpPr>
        <p:spPr>
          <a:xfrm>
            <a:off x="594360" y="3337560"/>
            <a:ext cx="153576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v2</a:t>
            </a:r>
          </a:p>
        </p:txBody>
      </p:sp>
      <p:sp>
        <p:nvSpPr>
          <p:cNvPr id="456" name="Shape 23"/>
          <p:cNvSpPr/>
          <p:nvPr/>
        </p:nvSpPr>
        <p:spPr>
          <a:xfrm>
            <a:off x="2130480" y="3337560"/>
            <a:ext cx="285264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Added FinBERT model and sentiment aggregation logic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4"/>
          <p:cNvSpPr/>
          <p:nvPr/>
        </p:nvSpPr>
        <p:spPr>
          <a:xfrm>
            <a:off x="498348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3 runs with 50+ headlines across 5 companies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5"/>
          <p:cNvSpPr/>
          <p:nvPr/>
        </p:nvSpPr>
        <p:spPr>
          <a:xfrm>
            <a:off x="717804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Stable sentiment output; improved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6"/>
          <p:cNvSpPr/>
          <p:nvPr/>
        </p:nvSpPr>
        <p:spPr>
          <a:xfrm>
            <a:off x="9372600" y="3337560"/>
            <a:ext cx="2194200" cy="95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Dashboard screenshot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7"/>
          <p:cNvSpPr/>
          <p:nvPr/>
        </p:nvSpPr>
        <p:spPr>
          <a:xfrm>
            <a:off x="594360" y="4297680"/>
            <a:ext cx="153576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v3</a:t>
            </a:r>
          </a:p>
        </p:txBody>
      </p:sp>
      <p:sp>
        <p:nvSpPr>
          <p:cNvPr id="461" name="Shape 28"/>
          <p:cNvSpPr/>
          <p:nvPr/>
        </p:nvSpPr>
        <p:spPr>
          <a:xfrm>
            <a:off x="2130480" y="4297680"/>
            <a:ext cx="285264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8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lang="en-US" dirty="0" err="1"/>
              <a:t>treamlit</a:t>
            </a:r>
            <a:r>
              <a:rPr lang="en-US" dirty="0"/>
              <a:t> UI enhancements and error handling for RSS failures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9"/>
          <p:cNvSpPr/>
          <p:nvPr/>
        </p:nvSpPr>
        <p:spPr>
          <a:xfrm>
            <a:off x="498348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Live demo simulation + recorded run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30"/>
          <p:cNvSpPr/>
          <p:nvPr/>
        </p:nvSpPr>
        <p:spPr>
          <a:xfrm>
            <a:off x="717804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Smooth real-time updates; no crashes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1"/>
          <p:cNvSpPr/>
          <p:nvPr/>
        </p:nvSpPr>
        <p:spPr>
          <a:xfrm>
            <a:off x="9372600" y="4297680"/>
            <a:ext cx="2194200" cy="959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Demo video / screenshots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7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Include screenshots/photos/logs. Don’t hide failures — show what you learned and fixed.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38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39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40"/>
          <p:cNvSpPr/>
          <p:nvPr/>
        </p:nvSpPr>
        <p:spPr>
          <a:xfrm>
            <a:off x="10874828" y="6620400"/>
            <a:ext cx="722211" cy="155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17/23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Prototype Demo &amp; Artifacts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Make it easy for reviewers to verify quickly.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7"/>
          <p:cNvSpPr/>
          <p:nvPr/>
        </p:nvSpPr>
        <p:spPr>
          <a:xfrm>
            <a:off x="594360" y="1874520"/>
            <a:ext cx="1068324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8"/>
          <p:cNvSpPr/>
          <p:nvPr/>
        </p:nvSpPr>
        <p:spPr>
          <a:xfrm>
            <a:off x="850320" y="2039040"/>
            <a:ext cx="643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Links (paste)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9"/>
          <p:cNvSpPr/>
          <p:nvPr/>
        </p:nvSpPr>
        <p:spPr>
          <a:xfrm>
            <a:off x="850320" y="2377440"/>
            <a:ext cx="64371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4" name="Text 10"/>
          <p:cNvSpPr/>
          <p:nvPr/>
        </p:nvSpPr>
        <p:spPr>
          <a:xfrm>
            <a:off x="914400" y="2514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400"/>
              <a:t>Demo video file upload (MP4, ≤2 min)</a:t>
            </a:r>
          </a:p>
        </p:txBody>
      </p:sp>
      <p:sp>
        <p:nvSpPr>
          <p:cNvPr id="485" name="Shape 11"/>
          <p:cNvSpPr/>
          <p:nvPr/>
        </p:nvSpPr>
        <p:spPr>
          <a:xfrm>
            <a:off x="2807280" y="2569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2"/>
          <p:cNvSpPr/>
          <p:nvPr/>
        </p:nvSpPr>
        <p:spPr>
          <a:xfrm>
            <a:off x="2917080" y="2615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IN" sz="1400" dirty="0"/>
              <a:t>https://github.com/YogiramV/MarketEcho/blob/main/Prototype_demo.mp4</a:t>
            </a:r>
            <a:endParaRPr sz="1400" dirty="0"/>
          </a:p>
        </p:txBody>
      </p:sp>
      <p:sp>
        <p:nvSpPr>
          <p:cNvPr id="487" name="Text 13"/>
          <p:cNvSpPr/>
          <p:nvPr/>
        </p:nvSpPr>
        <p:spPr>
          <a:xfrm>
            <a:off x="914400" y="3081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Repository URL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4"/>
          <p:cNvSpPr/>
          <p:nvPr/>
        </p:nvSpPr>
        <p:spPr>
          <a:xfrm>
            <a:off x="2807280" y="3136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5"/>
          <p:cNvSpPr/>
          <p:nvPr/>
        </p:nvSpPr>
        <p:spPr>
          <a:xfrm>
            <a:off x="2917080" y="3182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>
                <a:solidFill>
                  <a:srgbClr val="000000"/>
                </a:solidFill>
                <a:latin typeface="Arial"/>
              </a:rPr>
              <a:t>https://github.com/YogiramV/MarketEcho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6"/>
          <p:cNvSpPr/>
          <p:nvPr/>
        </p:nvSpPr>
        <p:spPr>
          <a:xfrm>
            <a:off x="914400" y="364860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Build files (CAD/PCB)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7"/>
          <p:cNvSpPr/>
          <p:nvPr/>
        </p:nvSpPr>
        <p:spPr>
          <a:xfrm>
            <a:off x="2807280" y="3703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8"/>
          <p:cNvSpPr/>
          <p:nvPr/>
        </p:nvSpPr>
        <p:spPr>
          <a:xfrm>
            <a:off x="2917080" y="3749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n-US" sz="1300" dirty="0"/>
              <a:t>Not applicable for software‑only prototype</a:t>
            </a:r>
          </a:p>
        </p:txBody>
      </p:sp>
      <p:sp>
        <p:nvSpPr>
          <p:cNvPr id="493" name="Text 19"/>
          <p:cNvSpPr/>
          <p:nvPr/>
        </p:nvSpPr>
        <p:spPr>
          <a:xfrm>
            <a:off x="914400" y="421524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Dataset / logs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20"/>
          <p:cNvSpPr/>
          <p:nvPr/>
        </p:nvSpPr>
        <p:spPr>
          <a:xfrm>
            <a:off x="2807280" y="4270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1"/>
          <p:cNvSpPr/>
          <p:nvPr/>
        </p:nvSpPr>
        <p:spPr>
          <a:xfrm>
            <a:off x="2917080" y="4316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dirty="0"/>
              <a:t>Sample and anonymized medical reports</a:t>
            </a:r>
            <a:br>
              <a:rPr lang="en-US" sz="1300" dirty="0"/>
            </a:br>
            <a:r>
              <a:rPr lang="en-US" sz="1300" dirty="0"/>
              <a:t>Model accuracy logs and processing time logs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2"/>
          <p:cNvSpPr/>
          <p:nvPr/>
        </p:nvSpPr>
        <p:spPr>
          <a:xfrm>
            <a:off x="914400" y="4782240"/>
            <a:ext cx="18925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Release / version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23"/>
          <p:cNvSpPr/>
          <p:nvPr/>
        </p:nvSpPr>
        <p:spPr>
          <a:xfrm>
            <a:off x="2807280" y="4837320"/>
            <a:ext cx="44161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4"/>
          <p:cNvSpPr/>
          <p:nvPr/>
        </p:nvSpPr>
        <p:spPr>
          <a:xfrm>
            <a:off x="2917080" y="4883040"/>
            <a:ext cx="41968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[v1.0-prototype]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3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31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32"/>
          <p:cNvSpPr/>
          <p:nvPr/>
        </p:nvSpPr>
        <p:spPr>
          <a:xfrm>
            <a:off x="10881000" y="6620400"/>
            <a:ext cx="7160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18/23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Risks, Limitations &amp; Mitigations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Be honest. Show how you will reduce risk before MVP.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7"/>
          <p:cNvSpPr/>
          <p:nvPr/>
        </p:nvSpPr>
        <p:spPr>
          <a:xfrm>
            <a:off x="594360" y="1920240"/>
            <a:ext cx="373032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8"/>
          <p:cNvSpPr/>
          <p:nvPr/>
        </p:nvSpPr>
        <p:spPr>
          <a:xfrm>
            <a:off x="704160" y="2011680"/>
            <a:ext cx="35110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Risk / limitation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9"/>
          <p:cNvSpPr/>
          <p:nvPr/>
        </p:nvSpPr>
        <p:spPr>
          <a:xfrm>
            <a:off x="432504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10"/>
          <p:cNvSpPr/>
          <p:nvPr/>
        </p:nvSpPr>
        <p:spPr>
          <a:xfrm>
            <a:off x="443484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Impact (L/M/H)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11"/>
          <p:cNvSpPr/>
          <p:nvPr/>
        </p:nvSpPr>
        <p:spPr>
          <a:xfrm>
            <a:off x="6300360" y="1920240"/>
            <a:ext cx="197460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12"/>
          <p:cNvSpPr/>
          <p:nvPr/>
        </p:nvSpPr>
        <p:spPr>
          <a:xfrm>
            <a:off x="6409800" y="2011680"/>
            <a:ext cx="1755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Likelihood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13"/>
          <p:cNvSpPr/>
          <p:nvPr/>
        </p:nvSpPr>
        <p:spPr>
          <a:xfrm>
            <a:off x="8275320" y="1920240"/>
            <a:ext cx="3291480" cy="456840"/>
          </a:xfrm>
          <a:prstGeom prst="rect">
            <a:avLst/>
          </a:prstGeom>
          <a:solidFill>
            <a:srgbClr val="0B2E4A"/>
          </a:solidFill>
          <a:ln w="1270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14"/>
          <p:cNvSpPr/>
          <p:nvPr/>
        </p:nvSpPr>
        <p:spPr>
          <a:xfrm>
            <a:off x="8385120" y="2011680"/>
            <a:ext cx="30718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Mitigation / next action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15"/>
          <p:cNvSpPr/>
          <p:nvPr/>
        </p:nvSpPr>
        <p:spPr>
          <a:xfrm>
            <a:off x="594360" y="237744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News RSS feed availability or rate limits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6"/>
          <p:cNvSpPr/>
          <p:nvPr/>
        </p:nvSpPr>
        <p:spPr>
          <a:xfrm>
            <a:off x="4325040" y="237744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		</a:t>
            </a:r>
          </a:p>
        </p:txBody>
      </p:sp>
      <p:sp>
        <p:nvSpPr>
          <p:cNvPr id="524" name="Shape 17"/>
          <p:cNvSpPr/>
          <p:nvPr/>
        </p:nvSpPr>
        <p:spPr>
          <a:xfrm>
            <a:off x="6300360" y="237744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</a:p>
        </p:txBody>
      </p:sp>
      <p:sp>
        <p:nvSpPr>
          <p:cNvPr id="525" name="Shape 18"/>
          <p:cNvSpPr/>
          <p:nvPr/>
        </p:nvSpPr>
        <p:spPr>
          <a:xfrm>
            <a:off x="8275320" y="237744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/>
              <a:t>Add multiple news sources and basic retry/fallback logic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19"/>
          <p:cNvSpPr/>
          <p:nvPr/>
        </p:nvSpPr>
        <p:spPr>
          <a:xfrm>
            <a:off x="594360" y="3145680"/>
            <a:ext cx="37303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dirty="0"/>
              <a:t>Kafka broker failure or local setup instability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20"/>
          <p:cNvSpPr/>
          <p:nvPr/>
        </p:nvSpPr>
        <p:spPr>
          <a:xfrm>
            <a:off x="432504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H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1"/>
          <p:cNvSpPr/>
          <p:nvPr/>
        </p:nvSpPr>
        <p:spPr>
          <a:xfrm>
            <a:off x="6300360" y="314568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L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Shape 22"/>
          <p:cNvSpPr/>
          <p:nvPr/>
        </p:nvSpPr>
        <p:spPr>
          <a:xfrm>
            <a:off x="8275320" y="3145680"/>
            <a:ext cx="329148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/>
              <a:t>Use monitored local setup; plan managed Kafka for MVP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23"/>
          <p:cNvSpPr/>
          <p:nvPr/>
        </p:nvSpPr>
        <p:spPr>
          <a:xfrm>
            <a:off x="594360" y="3913560"/>
            <a:ext cx="373032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IN"/>
              <a:t>Sentiment accuracy on complex financial language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24"/>
          <p:cNvSpPr/>
          <p:nvPr/>
        </p:nvSpPr>
        <p:spPr>
          <a:xfrm>
            <a:off x="432504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</a:p>
        </p:txBody>
      </p:sp>
      <p:sp>
        <p:nvSpPr>
          <p:cNvPr id="532" name="Shape 25"/>
          <p:cNvSpPr/>
          <p:nvPr/>
        </p:nvSpPr>
        <p:spPr>
          <a:xfrm>
            <a:off x="6300360" y="3913560"/>
            <a:ext cx="197460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</a:p>
        </p:txBody>
      </p:sp>
      <p:sp>
        <p:nvSpPr>
          <p:cNvPr id="533" name="Shape 26"/>
          <p:cNvSpPr/>
          <p:nvPr/>
        </p:nvSpPr>
        <p:spPr>
          <a:xfrm>
            <a:off x="8275320" y="3913560"/>
            <a:ext cx="3291480" cy="767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/>
              <a:t>Fine-tune model on finance-specific datasets and add confidence scores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27"/>
          <p:cNvSpPr/>
          <p:nvPr/>
        </p:nvSpPr>
        <p:spPr>
          <a:xfrm>
            <a:off x="594360" y="4681800"/>
            <a:ext cx="373032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/>
              <a:t>Performance latency during peak message load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28"/>
          <p:cNvSpPr/>
          <p:nvPr/>
        </p:nvSpPr>
        <p:spPr>
          <a:xfrm>
            <a:off x="432504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rial"/>
              </a:rPr>
              <a:t>M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29"/>
          <p:cNvSpPr/>
          <p:nvPr/>
        </p:nvSpPr>
        <p:spPr>
          <a:xfrm>
            <a:off x="6300360" y="4681800"/>
            <a:ext cx="197460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L</a:t>
            </a:r>
          </a:p>
        </p:txBody>
      </p:sp>
      <p:sp>
        <p:nvSpPr>
          <p:cNvPr id="537" name="Shape 30"/>
          <p:cNvSpPr/>
          <p:nvPr/>
        </p:nvSpPr>
        <p:spPr>
          <a:xfrm>
            <a:off x="8275320" y="4681800"/>
            <a:ext cx="3291480" cy="767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600"/>
              <a:t>Batch processing and model optimization before scaling</a:t>
            </a:r>
          </a:p>
        </p:txBody>
      </p:sp>
      <p:sp>
        <p:nvSpPr>
          <p:cNvPr id="543" name="Shape 36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37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38"/>
          <p:cNvSpPr/>
          <p:nvPr/>
        </p:nvSpPr>
        <p:spPr>
          <a:xfrm>
            <a:off x="10853057" y="6620400"/>
            <a:ext cx="743982" cy="21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19/23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DECISION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Go / Refine / Pivot &amp; Next Steps → MVP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Decision must be tied to evidence (not opinion).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7"/>
          <p:cNvSpPr/>
          <p:nvPr/>
        </p:nvSpPr>
        <p:spPr>
          <a:xfrm>
            <a:off x="594360" y="1874520"/>
            <a:ext cx="566892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850320" y="2039040"/>
            <a:ext cx="5157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Decision (fill)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9"/>
          <p:cNvSpPr/>
          <p:nvPr/>
        </p:nvSpPr>
        <p:spPr>
          <a:xfrm>
            <a:off x="850320" y="2377440"/>
            <a:ext cx="515700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Decision: GO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Rationale (tie to metrics):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 defTabSz="914400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dirty="0">
                <a:solidFill>
                  <a:srgbClr val="4B5563"/>
                </a:solidFill>
                <a:latin typeface="Calibri"/>
                <a:ea typeface="Calibri"/>
              </a:rPr>
              <a:t>End to end pipeline demonstrated stable real-time processing with &lt;= 5s latency</a:t>
            </a:r>
          </a:p>
          <a:p>
            <a:pPr marL="285750" indent="-285750" defTabSz="914400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Sentiment accuracy met &gt;=90% threshold on test headlines</a:t>
            </a:r>
          </a:p>
          <a:p>
            <a:pPr marL="285750" indent="-285750" defTabSz="914400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dirty="0">
                <a:solidFill>
                  <a:srgbClr val="4B5563"/>
                </a:solidFill>
                <a:latin typeface="Calibri"/>
                <a:ea typeface="Calibri"/>
              </a:rPr>
              <a:t>Live  demo completed  without system failure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10"/>
          <p:cNvSpPr/>
          <p:nvPr/>
        </p:nvSpPr>
        <p:spPr>
          <a:xfrm>
            <a:off x="6537960" y="1874520"/>
            <a:ext cx="5348880" cy="4525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  <a:effectLst>
            <a:outerShdw blurRad="28080" dist="19855" dir="2700000" algn="bl" rotWithShape="0">
              <a:srgbClr val="000000">
                <a:alpha val="1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1"/>
          <p:cNvSpPr/>
          <p:nvPr/>
        </p:nvSpPr>
        <p:spPr>
          <a:xfrm>
            <a:off x="6793920" y="2039040"/>
            <a:ext cx="4836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Next steps toward MVP (not MVP itself)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2"/>
          <p:cNvSpPr/>
          <p:nvPr/>
        </p:nvSpPr>
        <p:spPr>
          <a:xfrm>
            <a:off x="6793920" y="2377440"/>
            <a:ext cx="4836960" cy="384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List top 3 tasks you must complete before a real user pilot: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1) </a:t>
            </a:r>
            <a:r>
              <a:rPr lang="en-US" sz="1300" dirty="0">
                <a:solidFill>
                  <a:srgbClr val="4B5563"/>
                </a:solidFill>
                <a:latin typeface="Calibri"/>
                <a:ea typeface="Calibri"/>
              </a:rPr>
              <a:t>Add multiple news sources and fallback  ingestion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2) </a:t>
            </a:r>
            <a:r>
              <a:rPr lang="en-US" sz="1300" dirty="0">
                <a:solidFill>
                  <a:srgbClr val="4B5563"/>
                </a:solidFill>
                <a:latin typeface="Calibri"/>
                <a:ea typeface="Calibri"/>
              </a:rPr>
              <a:t>Fine-tune sentiment model on larger finance-specific dataset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3) </a:t>
            </a:r>
            <a:r>
              <a:rPr lang="en-US" sz="1300" dirty="0">
                <a:solidFill>
                  <a:srgbClr val="4B5563"/>
                </a:solidFill>
                <a:latin typeface="Calibri"/>
                <a:ea typeface="Calibri"/>
              </a:rPr>
              <a:t>Deploy Kafka and app on cloud  environment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KPIs to carry forward: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dirty="0">
                <a:solidFill>
                  <a:srgbClr val="4B5563"/>
                </a:solidFill>
                <a:latin typeface="Calibri"/>
                <a:ea typeface="Calibri"/>
              </a:rPr>
              <a:t>End-to-end latency</a:t>
            </a:r>
          </a:p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Sentiment Accuracy</a:t>
            </a:r>
          </a:p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dirty="0">
                <a:solidFill>
                  <a:srgbClr val="4B5563"/>
                </a:solidFill>
                <a:latin typeface="Calibri"/>
                <a:ea typeface="Calibri"/>
              </a:rPr>
              <a:t>System uptime/failure rate</a:t>
            </a:r>
          </a:p>
          <a:p>
            <a:pPr marL="342900" indent="-342900" defTabSz="914400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User iteration frequency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3"/>
          <p:cNvSpPr/>
          <p:nvPr/>
        </p:nvSpPr>
        <p:spPr>
          <a:xfrm>
            <a:off x="594360" y="62362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Reminder: MVP stage = real end-user pilot + feedback loops. Prototype stage focuses on integration + controlled usability checks.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14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5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6"/>
          <p:cNvSpPr/>
          <p:nvPr/>
        </p:nvSpPr>
        <p:spPr>
          <a:xfrm>
            <a:off x="10874828" y="6620400"/>
            <a:ext cx="722211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20/23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Shape 0"/>
          <p:cNvSpPr/>
          <p:nvPr/>
        </p:nvSpPr>
        <p:spPr>
          <a:xfrm>
            <a:off x="0" y="0"/>
            <a:ext cx="12191400" cy="566640"/>
          </a:xfrm>
          <a:prstGeom prst="rect">
            <a:avLst/>
          </a:prstGeom>
          <a:solidFill>
            <a:srgbClr val="0B2E4A"/>
          </a:solidFill>
          <a:ln w="12700">
            <a:solidFill>
              <a:srgbClr val="0B2E4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1"/>
          <p:cNvSpPr/>
          <p:nvPr/>
        </p:nvSpPr>
        <p:spPr>
          <a:xfrm>
            <a:off x="0" y="0"/>
            <a:ext cx="145800" cy="566640"/>
          </a:xfrm>
          <a:prstGeom prst="rect">
            <a:avLst/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"/>
          <p:cNvSpPr/>
          <p:nvPr/>
        </p:nvSpPr>
        <p:spPr>
          <a:xfrm>
            <a:off x="594360" y="109800"/>
            <a:ext cx="11002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SoI Innovation Pipeline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594360" y="658440"/>
            <a:ext cx="1919880" cy="292320"/>
          </a:xfrm>
          <a:prstGeom prst="roundRect">
            <a:avLst>
              <a:gd name="adj" fmla="val 16667"/>
            </a:avLst>
          </a:prstGeom>
          <a:solidFill>
            <a:srgbClr val="2F6FB3"/>
          </a:solidFill>
          <a:ln w="12700">
            <a:solidFill>
              <a:srgbClr val="2F6FB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4"/>
          <p:cNvSpPr/>
          <p:nvPr/>
        </p:nvSpPr>
        <p:spPr>
          <a:xfrm>
            <a:off x="594360" y="704160"/>
            <a:ext cx="1919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5"/>
          <p:cNvSpPr/>
          <p:nvPr/>
        </p:nvSpPr>
        <p:spPr>
          <a:xfrm>
            <a:off x="594360" y="822960"/>
            <a:ext cx="110026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11827"/>
                </a:solidFill>
                <a:effectLst/>
                <a:uFillTx/>
                <a:latin typeface="Calibri"/>
                <a:ea typeface="Calibri"/>
              </a:rPr>
              <a:t>References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6"/>
          <p:cNvSpPr/>
          <p:nvPr/>
        </p:nvSpPr>
        <p:spPr>
          <a:xfrm>
            <a:off x="594360" y="1417320"/>
            <a:ext cx="110026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Cite datasets, papers, APIs, libraries, and external assets.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7"/>
          <p:cNvSpPr/>
          <p:nvPr/>
        </p:nvSpPr>
        <p:spPr>
          <a:xfrm>
            <a:off x="594360" y="1965960"/>
            <a:ext cx="10972440" cy="448020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8"/>
          <p:cNvSpPr/>
          <p:nvPr/>
        </p:nvSpPr>
        <p:spPr>
          <a:xfrm>
            <a:off x="777240" y="2075760"/>
            <a:ext cx="10606680" cy="4260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dirty="0"/>
          </a:p>
        </p:txBody>
      </p:sp>
      <p:sp>
        <p:nvSpPr>
          <p:cNvPr id="573" name="Shape 10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1"/>
          <p:cNvSpPr/>
          <p:nvPr/>
        </p:nvSpPr>
        <p:spPr>
          <a:xfrm>
            <a:off x="594360" y="6620400"/>
            <a:ext cx="110026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SoI Prototype Stage — Submission Deck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2"/>
          <p:cNvSpPr/>
          <p:nvPr/>
        </p:nvSpPr>
        <p:spPr>
          <a:xfrm>
            <a:off x="10961914" y="6620400"/>
            <a:ext cx="635126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sz="1100"/>
              <a:t>21/23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305AFD-CDCC-E1B4-D3F5-10072A5F958B}"/>
              </a:ext>
            </a:extLst>
          </p:cNvPr>
          <p:cNvSpPr txBox="1"/>
          <p:nvPr/>
        </p:nvSpPr>
        <p:spPr>
          <a:xfrm>
            <a:off x="934278" y="2219742"/>
            <a:ext cx="102770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dirty="0"/>
            </a:br>
            <a:endParaRPr lang="en-IN" dirty="0"/>
          </a:p>
          <a:p>
            <a:pPr>
              <a:buNone/>
            </a:pPr>
            <a:r>
              <a:rPr lang="en-IN" b="1" dirty="0"/>
              <a:t>[1]</a:t>
            </a:r>
            <a:r>
              <a:rPr lang="en-IN" dirty="0"/>
              <a:t> J. Devlin </a:t>
            </a:r>
            <a:r>
              <a:rPr lang="en-IN" i="1" dirty="0"/>
              <a:t>et al.</a:t>
            </a:r>
            <a:r>
              <a:rPr lang="en-IN" dirty="0"/>
              <a:t>, “BERT: Pre-training of Deep Bidirectional Transformers for Language Understanding,” </a:t>
            </a:r>
            <a:r>
              <a:rPr lang="en-IN" i="1" dirty="0" err="1"/>
              <a:t>arXiv</a:t>
            </a:r>
            <a:r>
              <a:rPr lang="en-IN" dirty="0"/>
              <a:t>, 2018. </a:t>
            </a:r>
            <a:r>
              <a:rPr lang="en-IN" dirty="0">
                <a:hlinkClick r:id="rId3"/>
              </a:rPr>
              <a:t>https://arxiv.org/abs/1810.04805</a:t>
            </a:r>
            <a:r>
              <a:rPr lang="en-IN" dirty="0"/>
              <a:t> (accessed Jan. 2026).</a:t>
            </a:r>
          </a:p>
          <a:p>
            <a:pPr>
              <a:buNone/>
            </a:pPr>
            <a:r>
              <a:rPr lang="en-IN" b="1" dirty="0"/>
              <a:t>[2]</a:t>
            </a:r>
            <a:r>
              <a:rPr lang="en-IN" dirty="0"/>
              <a:t> T. Araci, “</a:t>
            </a:r>
            <a:r>
              <a:rPr lang="en-IN" dirty="0" err="1"/>
              <a:t>FinBERT</a:t>
            </a:r>
            <a:r>
              <a:rPr lang="en-IN" dirty="0"/>
              <a:t>: Financial Sentiment Analysis with Pre-trained Language Models,” </a:t>
            </a:r>
            <a:r>
              <a:rPr lang="en-IN" i="1" dirty="0" err="1"/>
              <a:t>arXiv</a:t>
            </a:r>
            <a:r>
              <a:rPr lang="en-IN" dirty="0"/>
              <a:t>, 2019. </a:t>
            </a:r>
            <a:r>
              <a:rPr lang="en-IN" dirty="0">
                <a:hlinkClick r:id="rId4"/>
              </a:rPr>
              <a:t>https://arxiv.org/abs/1908.10063</a:t>
            </a:r>
            <a:r>
              <a:rPr lang="en-IN" dirty="0"/>
              <a:t> (accessed Jan. 2026).</a:t>
            </a:r>
          </a:p>
          <a:p>
            <a:pPr>
              <a:buNone/>
            </a:pPr>
            <a:r>
              <a:rPr lang="en-IN" b="1" dirty="0"/>
              <a:t>[3]</a:t>
            </a:r>
            <a:r>
              <a:rPr lang="en-IN" dirty="0"/>
              <a:t> Apache Software Foundation, “Apache Kafka Documentation,” 2025. </a:t>
            </a:r>
            <a:r>
              <a:rPr lang="en-IN" dirty="0">
                <a:hlinkClick r:id="rId5"/>
              </a:rPr>
              <a:t>https://kafka.apache.org/documentation/</a:t>
            </a:r>
            <a:r>
              <a:rPr lang="en-IN" dirty="0"/>
              <a:t> (accessed Jan. 2026).</a:t>
            </a:r>
          </a:p>
          <a:p>
            <a:pPr>
              <a:buNone/>
            </a:pPr>
            <a:r>
              <a:rPr lang="en-IN" b="1" dirty="0"/>
              <a:t>[4]</a:t>
            </a:r>
            <a:r>
              <a:rPr lang="en-IN" dirty="0"/>
              <a:t> Hugging Face, “</a:t>
            </a:r>
            <a:r>
              <a:rPr lang="en-IN" dirty="0" err="1"/>
              <a:t>FinBERT</a:t>
            </a:r>
            <a:r>
              <a:rPr lang="en-IN" dirty="0"/>
              <a:t> Model,” 2025. </a:t>
            </a:r>
            <a:r>
              <a:rPr lang="en-IN" dirty="0">
                <a:hlinkClick r:id="rId6"/>
              </a:rPr>
              <a:t>https://huggingface.co/ProsusAI/finbert</a:t>
            </a:r>
            <a:r>
              <a:rPr lang="en-IN" dirty="0"/>
              <a:t> (accessed Jan. 2026).</a:t>
            </a:r>
          </a:p>
          <a:p>
            <a:pPr>
              <a:buNone/>
            </a:pPr>
            <a:r>
              <a:rPr lang="en-IN" b="1" dirty="0"/>
              <a:t>[5]</a:t>
            </a:r>
            <a:r>
              <a:rPr lang="en-IN" dirty="0"/>
              <a:t> Google, “Google News RSS Feeds,” 2025. </a:t>
            </a:r>
            <a:r>
              <a:rPr lang="en-IN" dirty="0">
                <a:hlinkClick r:id="rId7"/>
              </a:rPr>
              <a:t>https://news.google.com/rss</a:t>
            </a:r>
            <a:r>
              <a:rPr lang="en-IN" dirty="0"/>
              <a:t> (accessed Jan. 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f4bcbf8-e4fe-49fe-9064-aa6724e1aff7">
      <Terms xmlns="http://schemas.microsoft.com/office/infopath/2007/PartnerControls"/>
    </lcf76f155ced4ddcb4097134ff3c332f>
    <TaxCatchAll xmlns="83df3408-28af-437f-b204-b64d5303919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D9324C02AF684081B0638F841F77A7" ma:contentTypeVersion="11" ma:contentTypeDescription="Create a new document." ma:contentTypeScope="" ma:versionID="c1d04b9658c572ac367ed4fb2e369519">
  <xsd:schema xmlns:xsd="http://www.w3.org/2001/XMLSchema" xmlns:xs="http://www.w3.org/2001/XMLSchema" xmlns:p="http://schemas.microsoft.com/office/2006/metadata/properties" xmlns:ns2="8f4bcbf8-e4fe-49fe-9064-aa6724e1aff7" xmlns:ns3="83df3408-28af-437f-b204-b64d5303919d" targetNamespace="http://schemas.microsoft.com/office/2006/metadata/properties" ma:root="true" ma:fieldsID="8df609a8d163ae2a8d759a23718ba836" ns2:_="" ns3:_="">
    <xsd:import namespace="8f4bcbf8-e4fe-49fe-9064-aa6724e1aff7"/>
    <xsd:import namespace="83df3408-28af-437f-b204-b64d530391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bcbf8-e4fe-49fe-9064-aa6724e1af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7d36ee0-516a-46d7-9c37-891188aa7a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df3408-28af-437f-b204-b64d5303919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79c58b2-d052-42f6-ad66-5381626b27f3}" ma:internalName="TaxCatchAll" ma:showField="CatchAllData" ma:web="83df3408-28af-437f-b204-b64d530391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92520CE-C54E-42B0-8B2A-D6BB56BDC1A0}">
  <ds:schemaRefs>
    <ds:schemaRef ds:uri="83df3408-28af-437f-b204-b64d5303919d"/>
    <ds:schemaRef ds:uri="8f4bcbf8-e4fe-49fe-9064-aa6724e1aff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F58F4BB-89F6-494C-B068-E99F0CD5AC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C12D24C-5689-40BB-BFE4-4D69E71BDC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4bcbf8-e4fe-49fe-9064-aa6724e1aff7"/>
    <ds:schemaRef ds:uri="83df3408-28af-437f-b204-b64d530391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2048</Words>
  <Application>Microsoft Office PowerPoint</Application>
  <PresentationFormat>Widescreen</PresentationFormat>
  <Paragraphs>339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Thiruvaazhi Uloli</dc:creator>
  <cp:lastModifiedBy>Sanjay Akash</cp:lastModifiedBy>
  <cp:revision>37</cp:revision>
  <dcterms:modified xsi:type="dcterms:W3CDTF">2026-02-05T04:18:15Z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2025-12-25T17:28:54Z</dcterms:created>
  <dc:creator>SoI Projects</dc:creator>
  <dc:description/>
  <dc:language>en-US</dc:language>
  <cp:lastModifiedBy>SoI Projects</cp:lastModifiedBy>
  <dcterms:modified xsi:type="dcterms:W3CDTF">2025-12-25T17:28:54Z</dcterms:modified>
  <cp:revision>1</cp:revision>
  <dc:subject>SoI Prototype Stage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21</vt:r8>
  </property>
  <property fmtid="{D5CDD505-2E9C-101B-9397-08002B2CF9AE}" pid="3" name="PresentationFormat">
    <vt:lpwstr>On-screen Show (16:9)</vt:lpwstr>
  </property>
  <property fmtid="{D5CDD505-2E9C-101B-9397-08002B2CF9AE}" pid="4" name="Slides">
    <vt:r8>21</vt:r8>
  </property>
  <property fmtid="{D5CDD505-2E9C-101B-9397-08002B2CF9AE}" pid="5" name="ContentTypeId">
    <vt:lpwstr>0x0101004AD9324C02AF684081B0638F841F77A7</vt:lpwstr>
  </property>
  <property fmtid="{D5CDD505-2E9C-101B-9397-08002B2CF9AE}" pid="6" name="MediaServiceImageTags">
    <vt:lpwstr/>
  </property>
</Properties>
</file>